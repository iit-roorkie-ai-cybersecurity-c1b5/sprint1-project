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BC957EB-8F60-4BE6-9E35-31D345F289E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A8BD30-B9CE-4A03-A5D3-CBA2A8E042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7B9D7A-02A6-4AE5-BDC0-5FF7E02939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43BE9D-DD33-4A5C-9250-779BE63709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C3C2C5-14F9-4C98-B258-3B59103340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47EB13-4514-4D22-BEE3-42ACC67EC9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B213B3-9092-48B3-B312-EC249A8C46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8F7324-E5C0-41A6-A47B-B76E1B4E8A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8A98BF-B489-4036-8C3F-9B6CC8415B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1B938B-AF5D-4FB9-9FEC-D0524FEDAA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552C7D-4EF1-4AAC-A48D-228BE1A85D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3B0E56-8F31-4744-9B7A-0612B08CF0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73047E-110C-48D7-8D85-B4AC9062C9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3749400" y="549000"/>
            <a:ext cx="1279800" cy="12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457200" y="20116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8FAFC"/>
                </a:solidFill>
                <a:effectLst/>
                <a:uFillTx/>
                <a:latin typeface="Arial Black"/>
                <a:ea typeface="Arial Black"/>
              </a:rPr>
              <a:t>SECURITY CONTROL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457200" y="2606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06B6D4"/>
                </a:solidFill>
                <a:effectLst/>
                <a:uFillTx/>
                <a:latin typeface="Arial Black"/>
                <a:ea typeface="Arial Black"/>
              </a:rPr>
              <a:t>MAPPING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14400" y="3200400"/>
            <a:ext cx="7314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Framework Alignment Across NIST CSF 2.0 | ISO 27001 | CIS v8 | SOC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5"/>
          <p:cNvSpPr/>
          <p:nvPr/>
        </p:nvSpPr>
        <p:spPr>
          <a:xfrm>
            <a:off x="2057760" y="384084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Presented by: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30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Megha Sharma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30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Poojan Patel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30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Shilpa Soni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30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Vishnoo Rath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THE CHALLENGE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457200" y="914400"/>
            <a:ext cx="91080" cy="7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457200" y="1371600"/>
            <a:ext cx="3931560" cy="127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731520" y="164592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Multiple Frameworks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731520" y="205740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4 compliance requirements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4754880" y="1371600"/>
            <a:ext cx="3931560" cy="127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5029200" y="164592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Overlapping Controls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5029200" y="205740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Same goals, different terms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457200" y="3017520"/>
            <a:ext cx="3931560" cy="127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731520" y="329184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Resource Constraints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731520" y="370332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Limited time &amp; budget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4754880" y="3017520"/>
            <a:ext cx="3931560" cy="127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5029200" y="329184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Audit Complexity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5029200" y="370332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Evidence across standards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THE SOLUTION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457200" y="914400"/>
            <a:ext cx="91080" cy="7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preencoded.png"/>
          <p:cNvPicPr/>
          <p:nvPr/>
        </p:nvPicPr>
        <p:blipFill>
          <a:blip r:embed="rId1"/>
          <a:stretch/>
        </p:blipFill>
        <p:spPr>
          <a:xfrm>
            <a:off x="2743200" y="1645920"/>
            <a:ext cx="3657240" cy="201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2"/>
          <p:cNvSpPr/>
          <p:nvPr/>
        </p:nvSpPr>
        <p:spPr>
          <a:xfrm>
            <a:off x="914400" y="39319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891B2"/>
                </a:solidFill>
                <a:effectLst/>
                <a:uFillTx/>
                <a:latin typeface="Calibri"/>
              </a:rPr>
              <a:t>UNIFIED CONTROL MAPPING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914400" y="44348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Implement once. Satisfy all.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4 FRAMEWORKS. 1 STRATEGY.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457200" y="1188720"/>
            <a:ext cx="1919880" cy="3200040"/>
          </a:xfrm>
          <a:prstGeom prst="rect">
            <a:avLst/>
          </a:prstGeom>
          <a:solidFill>
            <a:srgbClr val="FFFFFF"/>
          </a:solidFill>
          <a:ln w="381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457200" y="1188720"/>
            <a:ext cx="1919880" cy="54828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457200" y="13258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NIST CSF 2.0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640080" y="20116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Risk-based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640080" y="347472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106 subcategories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2606040" y="1188720"/>
            <a:ext cx="1919880" cy="320004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2606040" y="1188720"/>
            <a:ext cx="1919880" cy="54828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2606040" y="13258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ISO 27001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2788920" y="20116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Certifiable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2788920" y="347472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93 controls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1"/>
          <p:cNvSpPr/>
          <p:nvPr/>
        </p:nvSpPr>
        <p:spPr>
          <a:xfrm>
            <a:off x="4754880" y="1188720"/>
            <a:ext cx="1919880" cy="320004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4754880" y="1188720"/>
            <a:ext cx="1919880" cy="5482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4754880" y="13258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CIS v8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4937760" y="20116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Prescriptive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4937760" y="347472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153 safeguards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6903720" y="1188720"/>
            <a:ext cx="1919880" cy="3200040"/>
          </a:xfrm>
          <a:prstGeom prst="rect">
            <a:avLst/>
          </a:prstGeom>
          <a:solidFill>
            <a:srgbClr val="FFFFFF"/>
          </a:solidFill>
          <a:ln w="381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7"/>
          <p:cNvSpPr/>
          <p:nvPr/>
        </p:nvSpPr>
        <p:spPr>
          <a:xfrm>
            <a:off x="6903720" y="1188720"/>
            <a:ext cx="1919880" cy="54828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903720" y="13258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SOC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7086600" y="20116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Trust-based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7086600" y="347472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5 TSC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3200040" cy="51433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731520" y="731520"/>
            <a:ext cx="1737000" cy="17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1"/>
          <p:cNvSpPr/>
          <p:nvPr/>
        </p:nvSpPr>
        <p:spPr>
          <a:xfrm>
            <a:off x="274320" y="274320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6B6D4"/>
                </a:solidFill>
                <a:effectLst/>
                <a:uFillTx/>
                <a:latin typeface="Arial Black"/>
                <a:ea typeface="Arial Black"/>
              </a:rPr>
              <a:t>01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274320" y="34747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FIREWALLS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274320" y="39319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Perimeter Defense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3657600" y="9144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3840480" y="10242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3840480" y="12985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PR.AC-5 | PR.DS-5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3657600" y="18288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3840480" y="19386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3840480" y="22129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A.8.20 | A.8.22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3657600" y="27432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3840480" y="28530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3840480" y="31273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12.4 | 13.1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3657600" y="36576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3840480" y="37674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3840480" y="40417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CC6.6 | CC6.7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3200040" cy="5143320"/>
          </a:xfrm>
          <a:prstGeom prst="rect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731520" y="731520"/>
            <a:ext cx="1737000" cy="17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1"/>
          <p:cNvSpPr/>
          <p:nvPr/>
        </p:nvSpPr>
        <p:spPr>
          <a:xfrm>
            <a:off x="274320" y="274320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6B6D4"/>
                </a:solidFill>
                <a:effectLst/>
                <a:uFillTx/>
                <a:latin typeface="Arial Black"/>
                <a:ea typeface="Arial Black"/>
              </a:rPr>
              <a:t>02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274320" y="34747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VPNs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274320" y="39319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Secure Remote Access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3657600" y="9144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3840480" y="10242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3840480" y="12985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PR.DS-2 | PR.AC-4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3657600" y="18288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3840480" y="19386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3840480" y="22129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A.8.24 | A.5.14 | A.6.7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3657600" y="27432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3840480" y="28530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3840480" y="31273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12.5 | 4.1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3657600" y="36576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3840480" y="37674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3840480" y="40417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CC6.7 | CC6.6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3200040" cy="51433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preencoded.png"/>
          <p:cNvPicPr/>
          <p:nvPr/>
        </p:nvPicPr>
        <p:blipFill>
          <a:blip r:embed="rId1"/>
          <a:stretch/>
        </p:blipFill>
        <p:spPr>
          <a:xfrm>
            <a:off x="731520" y="731520"/>
            <a:ext cx="1737000" cy="17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1"/>
          <p:cNvSpPr/>
          <p:nvPr/>
        </p:nvSpPr>
        <p:spPr>
          <a:xfrm>
            <a:off x="274320" y="274320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6B6D4"/>
                </a:solidFill>
                <a:effectLst/>
                <a:uFillTx/>
                <a:latin typeface="Arial Black"/>
                <a:ea typeface="Arial Black"/>
              </a:rPr>
              <a:t>03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274320" y="34747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IDS / IPS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274320" y="39319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Threat Detection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3657600" y="9144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3840480" y="10242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3840480" y="12985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DE.CM-1 | DE.AE-2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7"/>
          <p:cNvSpPr/>
          <p:nvPr/>
        </p:nvSpPr>
        <p:spPr>
          <a:xfrm>
            <a:off x="3657600" y="18288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3840480" y="19386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3840480" y="22129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A.8.16 | A.5.24 | A.5.25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0"/>
          <p:cNvSpPr/>
          <p:nvPr/>
        </p:nvSpPr>
        <p:spPr>
          <a:xfrm>
            <a:off x="3657600" y="27432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3840480" y="28530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3840480" y="31273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13.2 | 13.4 | 13.9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3"/>
          <p:cNvSpPr/>
          <p:nvPr/>
        </p:nvSpPr>
        <p:spPr>
          <a:xfrm>
            <a:off x="3657600" y="36576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3840480" y="37674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5"/>
          <p:cNvSpPr/>
          <p:nvPr/>
        </p:nvSpPr>
        <p:spPr>
          <a:xfrm>
            <a:off x="3840480" y="40417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CC7.2 | CC7.3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3200040" cy="5143320"/>
          </a:xfrm>
          <a:prstGeom prst="rect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1"/>
          <a:stretch/>
        </p:blipFill>
        <p:spPr>
          <a:xfrm>
            <a:off x="731520" y="731520"/>
            <a:ext cx="1737000" cy="17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"/>
          <p:cNvSpPr/>
          <p:nvPr/>
        </p:nvSpPr>
        <p:spPr>
          <a:xfrm>
            <a:off x="274320" y="274320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6B6D4"/>
                </a:solidFill>
                <a:effectLst/>
                <a:uFillTx/>
                <a:latin typeface="Arial Black"/>
                <a:ea typeface="Arial Black"/>
              </a:rPr>
              <a:t>04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274320" y="34747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NETWORK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274320" y="374904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SEGMENTATION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274320" y="41148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Contain Threats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3657600" y="9144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3840480" y="10242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3840480" y="12985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PR.AC-5 | PR.PT-4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3657600" y="18288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3840480" y="19386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3840480" y="22129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A.8.22 | A.8.20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3657600" y="27432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3840480" y="28530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3840480" y="31273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12.2 | 13.4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4"/>
          <p:cNvSpPr/>
          <p:nvPr/>
        </p:nvSpPr>
        <p:spPr>
          <a:xfrm>
            <a:off x="3657600" y="36576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3840480" y="37674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3840480" y="40417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CC6.6 | CC6.1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3200040" cy="51433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731520" y="731520"/>
            <a:ext cx="1737000" cy="17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1"/>
          <p:cNvSpPr/>
          <p:nvPr/>
        </p:nvSpPr>
        <p:spPr>
          <a:xfrm>
            <a:off x="274320" y="274320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6B6D4"/>
                </a:solidFill>
                <a:effectLst/>
                <a:uFillTx/>
                <a:latin typeface="Arial Black"/>
                <a:ea typeface="Arial Black"/>
              </a:rPr>
              <a:t>05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274320" y="34747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TRAFFIC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274320" y="374904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MONITORING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274320" y="41148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Continuous Visibility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3657600" y="9144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3840480" y="10242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3840480" y="12985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DE.CM-1 | DE.AE-3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3657600" y="18288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3840480" y="19386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3840480" y="22129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A.8.15 | A.8.16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3657600" y="27432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2"/>
          <p:cNvSpPr/>
          <p:nvPr/>
        </p:nvSpPr>
        <p:spPr>
          <a:xfrm>
            <a:off x="3840480" y="28530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3840480" y="31273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8.2 | 8.5 | 13.6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3657600" y="36576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5"/>
          <p:cNvSpPr/>
          <p:nvPr/>
        </p:nvSpPr>
        <p:spPr>
          <a:xfrm>
            <a:off x="3840480" y="37674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6"/>
          <p:cNvSpPr/>
          <p:nvPr/>
        </p:nvSpPr>
        <p:spPr>
          <a:xfrm>
            <a:off x="3840480" y="404172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CC7.2 | CC7.3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WHY UNIFIED MAPPING?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0" descr="preencoded.png"/>
          <p:cNvPicPr/>
          <p:nvPr/>
        </p:nvPicPr>
        <p:blipFill>
          <a:blip r:embed="rId1"/>
          <a:stretch/>
        </p:blipFill>
        <p:spPr>
          <a:xfrm>
            <a:off x="914400" y="13716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"/>
          <p:cNvSpPr/>
          <p:nvPr/>
        </p:nvSpPr>
        <p:spPr>
          <a:xfrm>
            <a:off x="1645920" y="1417320"/>
            <a:ext cx="6583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Implement once, satisfy all frameworks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1" descr="preencoded.png"/>
          <p:cNvPicPr/>
          <p:nvPr/>
        </p:nvPicPr>
        <p:blipFill>
          <a:blip r:embed="rId2"/>
          <a:stretch/>
        </p:blipFill>
        <p:spPr>
          <a:xfrm>
            <a:off x="914400" y="2194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2"/>
          <p:cNvSpPr/>
          <p:nvPr/>
        </p:nvSpPr>
        <p:spPr>
          <a:xfrm>
            <a:off x="1645920" y="2240280"/>
            <a:ext cx="6583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Reduce audit preparation time by 60%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2" descr="preencoded.png"/>
          <p:cNvPicPr/>
          <p:nvPr/>
        </p:nvPicPr>
        <p:blipFill>
          <a:blip r:embed="rId3"/>
          <a:stretch/>
        </p:blipFill>
        <p:spPr>
          <a:xfrm>
            <a:off x="914400" y="30175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3"/>
          <p:cNvSpPr/>
          <p:nvPr/>
        </p:nvSpPr>
        <p:spPr>
          <a:xfrm>
            <a:off x="1645920" y="3063240"/>
            <a:ext cx="6583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Consistent evidence across standards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3" descr="preencoded.png"/>
          <p:cNvPicPr/>
          <p:nvPr/>
        </p:nvPicPr>
        <p:blipFill>
          <a:blip r:embed="rId4"/>
          <a:stretch/>
        </p:blipFill>
        <p:spPr>
          <a:xfrm>
            <a:off x="914400" y="3840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4"/>
          <p:cNvSpPr/>
          <p:nvPr/>
        </p:nvSpPr>
        <p:spPr>
          <a:xfrm>
            <a:off x="1645920" y="3886200"/>
            <a:ext cx="6583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Lower compliance costs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IMPLEMENTATION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731520" y="1280160"/>
            <a:ext cx="548280" cy="54828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731520" y="132588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1554480" y="132588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Identify Common Controls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1554480" y="160020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Map overlapping requirements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731520" y="2103120"/>
            <a:ext cx="548280" cy="54828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731520" y="21488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1554480" y="21488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Implement to Highest Standard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1554480" y="242316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Meet most stringent requirement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731520" y="2926080"/>
            <a:ext cx="548280" cy="54828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731520" y="2971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1554480" y="297180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Document Once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1554480" y="324612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Evidence satisfies all frameworks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731520" y="3749040"/>
            <a:ext cx="548280" cy="54828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731520" y="379476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1554480" y="379476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Continuous Monitoring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1554480" y="406908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Maintain compliance status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Image 0" descr="preencoded.png"/>
          <p:cNvPicPr/>
          <p:nvPr/>
        </p:nvPicPr>
        <p:blipFill>
          <a:blip r:embed="rId1"/>
          <a:stretch/>
        </p:blipFill>
        <p:spPr>
          <a:xfrm>
            <a:off x="3931920" y="914400"/>
            <a:ext cx="1279800" cy="12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0"/>
          <p:cNvSpPr/>
          <p:nvPr/>
        </p:nvSpPr>
        <p:spPr>
          <a:xfrm>
            <a:off x="914400" y="23774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8FAFC"/>
                </a:solidFill>
                <a:effectLst/>
                <a:uFillTx/>
                <a:latin typeface="Arial Black"/>
                <a:ea typeface="Arial Black"/>
              </a:rPr>
              <a:t>ONE CONTROL.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914400" y="292608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06B6D4"/>
                </a:solidFill>
                <a:effectLst/>
                <a:uFillTx/>
                <a:latin typeface="Arial Black"/>
                <a:ea typeface="Arial Black"/>
              </a:rPr>
              <a:t>FOUR FRAMEWORKS.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914400" y="384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UNIFIED SECURITY POSTURE.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</a:rPr>
              <a:t>AUTOMATION TOOLS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457200" y="1005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GRC Tools for Automated Control Mapping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4" name="Table 3"/>
          <p:cNvGraphicFramePr/>
          <p:nvPr/>
        </p:nvGraphicFramePr>
        <p:xfrm>
          <a:off x="457200" y="1554480"/>
          <a:ext cx="8229240" cy="301716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011680"/>
                <a:gridCol w="2103120"/>
              </a:tblGrid>
              <a:tr h="430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Tool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Control Mapping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Framework Support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Key Strength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3A8A"/>
                    </a:solidFill>
                  </a:tcPr>
                </a:tc>
              </a:tr>
              <a:tr h="43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Vanta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Automated cross-framework mapping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ISO 27001, NIST, CIS,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Continuous monitoring + evidence reuse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Paracomply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Visual crosswalk mapping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ISO, NIST,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Unified control demonstration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Complyance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Pre-built control templates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ISO 27001, NIST,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Strong control life-cycle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CyberCyte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Multi-framework mapping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ISO, NIST, CIS,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Enterprise dashboards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United GRC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Unified control repository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ISO, NIST,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Shared evidence &amp; reporting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Risk Cognizance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AI-assisted mapping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ISO, NIST, CIS,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Arial"/>
                        </a:rPr>
                        <a:t>Gap analysis &amp; risk-based approach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/>
          <p:nvPr/>
        </p:nvSpPr>
        <p:spPr>
          <a:xfrm>
            <a:off x="457200" y="365760"/>
            <a:ext cx="7394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1E3A8A"/>
                </a:solidFill>
                <a:effectLst/>
                <a:uFillTx/>
                <a:latin typeface="Arial Black"/>
              </a:rPr>
              <a:t>THE FUTURE OF CONTROL MAPPING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2"/>
          <p:cNvSpPr/>
          <p:nvPr/>
        </p:nvSpPr>
        <p:spPr>
          <a:xfrm>
            <a:off x="731520" y="1371600"/>
            <a:ext cx="548280" cy="548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1554480" y="137160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AI-Powered Mapping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1554480" y="1664280"/>
            <a:ext cx="6674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Machine learning algorithms automatically identify control overlaps and suggest optimal mappings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5"/>
          <p:cNvSpPr/>
          <p:nvPr/>
        </p:nvSpPr>
        <p:spPr>
          <a:xfrm>
            <a:off x="731520" y="2194560"/>
            <a:ext cx="548280" cy="548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6"/>
          <p:cNvSpPr/>
          <p:nvPr/>
        </p:nvSpPr>
        <p:spPr>
          <a:xfrm>
            <a:off x="1554480" y="219456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Real-Time Compliance Tracking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1554480" y="2487240"/>
            <a:ext cx="6674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Continuous monitoring with automated evidence collection across all frameworks simultaneously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8"/>
          <p:cNvSpPr/>
          <p:nvPr/>
        </p:nvSpPr>
        <p:spPr>
          <a:xfrm>
            <a:off x="731520" y="3017520"/>
            <a:ext cx="548280" cy="548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1554480" y="301752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Dynamic Framework Updates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1554480" y="3310200"/>
            <a:ext cx="6674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Automatic adjustment to framework changes with instant remapping of affected controls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11"/>
          <p:cNvSpPr/>
          <p:nvPr/>
        </p:nvSpPr>
        <p:spPr>
          <a:xfrm>
            <a:off x="731520" y="3840480"/>
            <a:ext cx="548280" cy="548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2"/>
          <p:cNvSpPr/>
          <p:nvPr/>
        </p:nvSpPr>
        <p:spPr>
          <a:xfrm>
            <a:off x="1554480" y="384048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Predictive Gap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3"/>
          <p:cNvSpPr/>
          <p:nvPr/>
        </p:nvSpPr>
        <p:spPr>
          <a:xfrm>
            <a:off x="1554480" y="4133160"/>
            <a:ext cx="6674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AI predicts compliance gaps before audits and recommends proactive remediation steps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</a:rPr>
              <a:t>VALUABLE RESOURCES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2"/>
          <p:cNvSpPr/>
          <p:nvPr/>
        </p:nvSpPr>
        <p:spPr>
          <a:xfrm>
            <a:off x="457200" y="1188720"/>
            <a:ext cx="822924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3"/>
          <p:cNvSpPr/>
          <p:nvPr/>
        </p:nvSpPr>
        <p:spPr>
          <a:xfrm>
            <a:off x="594360" y="12344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Arial"/>
              </a:rPr>
              <a:t>NIST Cybersecurity Framework (CSF)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4"/>
          <p:cNvSpPr/>
          <p:nvPr/>
        </p:nvSpPr>
        <p:spPr>
          <a:xfrm>
            <a:off x="594360" y="148140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Official NIST framework documentation and resources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5486400" y="13716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0891B2"/>
                </a:solidFill>
                <a:effectLst/>
                <a:uFillTx/>
                <a:latin typeface="Arial"/>
              </a:rPr>
              <a:t>https://www.nist.gov/cyberframework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6"/>
          <p:cNvSpPr/>
          <p:nvPr/>
        </p:nvSpPr>
        <p:spPr>
          <a:xfrm>
            <a:off x="457200" y="1810440"/>
            <a:ext cx="8229240" cy="548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7"/>
          <p:cNvSpPr/>
          <p:nvPr/>
        </p:nvSpPr>
        <p:spPr>
          <a:xfrm>
            <a:off x="594360" y="185616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Arial"/>
              </a:rPr>
              <a:t>ISO/IEC 27001:2022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8"/>
          <p:cNvSpPr/>
          <p:nvPr/>
        </p:nvSpPr>
        <p:spPr>
          <a:xfrm>
            <a:off x="594360" y="210312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Information security management systems standard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5486400" y="199332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0891B2"/>
                </a:solidFill>
                <a:effectLst/>
                <a:uFillTx/>
                <a:latin typeface="Arial"/>
              </a:rPr>
              <a:t>https://www.iso.org/standard/27001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10"/>
          <p:cNvSpPr/>
          <p:nvPr/>
        </p:nvSpPr>
        <p:spPr>
          <a:xfrm>
            <a:off x="457200" y="2432160"/>
            <a:ext cx="822924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11"/>
          <p:cNvSpPr/>
          <p:nvPr/>
        </p:nvSpPr>
        <p:spPr>
          <a:xfrm>
            <a:off x="594360" y="24778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Arial"/>
              </a:rPr>
              <a:t>CIS Controls v8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2"/>
          <p:cNvSpPr/>
          <p:nvPr/>
        </p:nvSpPr>
        <p:spPr>
          <a:xfrm>
            <a:off x="594360" y="272484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Center for Internet Security safeguards and benchmarks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5486400" y="261504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0891B2"/>
                </a:solidFill>
                <a:effectLst/>
                <a:uFillTx/>
                <a:latin typeface="Arial"/>
              </a:rPr>
              <a:t>https://www.cisecurity.org/controls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14"/>
          <p:cNvSpPr/>
          <p:nvPr/>
        </p:nvSpPr>
        <p:spPr>
          <a:xfrm>
            <a:off x="457200" y="3054240"/>
            <a:ext cx="8229240" cy="548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594360" y="309996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Arial"/>
              </a:rPr>
              <a:t>SOC 2 Trust Services Criteria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6"/>
          <p:cNvSpPr/>
          <p:nvPr/>
        </p:nvSpPr>
        <p:spPr>
          <a:xfrm>
            <a:off x="594360" y="334656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AICPA SOC 2 framework and compliance guidance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7"/>
          <p:cNvSpPr/>
          <p:nvPr/>
        </p:nvSpPr>
        <p:spPr>
          <a:xfrm>
            <a:off x="5486400" y="323712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0891B2"/>
                </a:solidFill>
                <a:effectLst/>
                <a:uFillTx/>
                <a:latin typeface="Arial"/>
              </a:rPr>
              <a:t>https://www.aicpa.org/soc4so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18"/>
          <p:cNvSpPr/>
          <p:nvPr/>
        </p:nvSpPr>
        <p:spPr>
          <a:xfrm>
            <a:off x="457200" y="3675960"/>
            <a:ext cx="822924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9"/>
          <p:cNvSpPr/>
          <p:nvPr/>
        </p:nvSpPr>
        <p:spPr>
          <a:xfrm>
            <a:off x="594360" y="37216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Arial"/>
              </a:rPr>
              <a:t>Security Control Mapping Guide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0"/>
          <p:cNvSpPr/>
          <p:nvPr/>
        </p:nvSpPr>
        <p:spPr>
          <a:xfrm>
            <a:off x="594360" y="396864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NIST OLIR - Online Informative References for framework mapping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1"/>
          <p:cNvSpPr/>
          <p:nvPr/>
        </p:nvSpPr>
        <p:spPr>
          <a:xfrm>
            <a:off x="5486400" y="385884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0891B2"/>
                </a:solidFill>
                <a:effectLst/>
                <a:uFillTx/>
                <a:latin typeface="Arial"/>
              </a:rPr>
              <a:t>https://csrc.nist.gov/projects/olir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22"/>
          <p:cNvSpPr/>
          <p:nvPr/>
        </p:nvSpPr>
        <p:spPr>
          <a:xfrm>
            <a:off x="457200" y="4297680"/>
            <a:ext cx="8229240" cy="548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23"/>
          <p:cNvSpPr/>
          <p:nvPr/>
        </p:nvSpPr>
        <p:spPr>
          <a:xfrm>
            <a:off x="594360" y="43434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Arial"/>
              </a:rPr>
              <a:t>Unified Compliance Framework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4"/>
          <p:cNvSpPr/>
          <p:nvPr/>
        </p:nvSpPr>
        <p:spPr>
          <a:xfrm>
            <a:off x="594360" y="459036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Cross-framework mapping and compliance resources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5"/>
          <p:cNvSpPr/>
          <p:nvPr/>
        </p:nvSpPr>
        <p:spPr>
          <a:xfrm>
            <a:off x="5486400" y="448056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0891B2"/>
                </a:solidFill>
                <a:effectLst/>
                <a:uFillTx/>
                <a:latin typeface="Arial"/>
              </a:rPr>
              <a:t>https://complianceforge.com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1"/>
          <p:cNvSpPr/>
          <p:nvPr/>
        </p:nvSpPr>
        <p:spPr>
          <a:xfrm>
            <a:off x="914400" y="1828800"/>
            <a:ext cx="7314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ANY QUESTIONS?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914400" y="34747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Thank you for your attention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2026-02-15T20:58:08Z</dcterms:created>
  <dc:creator>Security Team</dc:creator>
  <dc:description/>
  <dc:language>en-US</dc:language>
  <cp:lastModifiedBy/>
  <dcterms:modified xsi:type="dcterms:W3CDTF">2026-02-16T08:26:39Z</dcterms:modified>
  <cp:revision>2</cp:revision>
  <dc:subject>PptxGenJS Presentation</dc:subject>
  <dc:title>Security Control Mapping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