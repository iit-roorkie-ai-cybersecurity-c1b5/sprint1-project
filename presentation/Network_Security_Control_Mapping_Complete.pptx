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E7C6279-FAA0-4366-A832-DDBF15C6BB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59FB38-C025-4B35-A157-7CD78C6161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4D9697-C02F-40E2-B823-9AACAB334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735C2A-6A2C-41A4-8AB6-0C59FC9ABC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33C73C-BB3F-4816-8DEC-7AAE45985E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7F5-AAF8-450A-BD9F-31C5C74A03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4A5F1C-B157-46BE-BFC6-D722E21DFD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1FE174-923C-4A62-B110-5C0023A340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465833-2AA1-4275-9395-6D3CAE3316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C72138-ED10-49E4-832E-3DF3191CCC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37CCDF-345F-408B-8627-A0E7D03AEB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E03EEB-5DB9-49C1-92AF-8208993BDD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6F437B-02DF-450F-96D5-CFF028DD33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90BD3-C350-4FC8-8A5F-EEB6FBBCBA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51D402-FF80-4FF3-8263-04777F31D5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B3FB56-FC24-422E-A675-835432D94D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www.nist.gov/cyberframework" TargetMode="External"/><Relationship Id="rId2" Type="http://schemas.openxmlformats.org/officeDocument/2006/relationships/hyperlink" Target="https://www.nist.gov/cyberframework" TargetMode="External"/><Relationship Id="rId3" Type="http://schemas.openxmlformats.org/officeDocument/2006/relationships/hyperlink" Target="https://www.iso.org/standard/27001" TargetMode="External"/><Relationship Id="rId4" Type="http://schemas.openxmlformats.org/officeDocument/2006/relationships/hyperlink" Target="https://www.iso.org/standard/27001" TargetMode="External"/><Relationship Id="rId5" Type="http://schemas.openxmlformats.org/officeDocument/2006/relationships/hyperlink" Target="https://www.cisecurity.org/controls" TargetMode="External"/><Relationship Id="rId6" Type="http://schemas.openxmlformats.org/officeDocument/2006/relationships/hyperlink" Target="https://www.cisecurity.org/controls" TargetMode="External"/><Relationship Id="rId7" Type="http://schemas.openxmlformats.org/officeDocument/2006/relationships/hyperlink" Target="https://www.aicpa.org/soc4so" TargetMode="External"/><Relationship Id="rId8" Type="http://schemas.openxmlformats.org/officeDocument/2006/relationships/hyperlink" Target="https://www.aicpa.org/soc4so" TargetMode="External"/><Relationship Id="rId9" Type="http://schemas.openxmlformats.org/officeDocument/2006/relationships/hyperlink" Target="https://csrc.nist.gov/projects/olir" TargetMode="External"/><Relationship Id="rId10" Type="http://schemas.openxmlformats.org/officeDocument/2006/relationships/hyperlink" Target="https://csrc.nist.gov/projects/olir" TargetMode="External"/><Relationship Id="rId11" Type="http://schemas.openxmlformats.org/officeDocument/2006/relationships/hyperlink" Target="https://complianceforge.com" TargetMode="External"/><Relationship Id="rId12" Type="http://schemas.openxmlformats.org/officeDocument/2006/relationships/hyperlink" Target="https://complianceforge.com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13716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SECURITY CONTROL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MAPPING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29260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Framework Alignment Across NIST CSF 2.0 | ISO 27001 | CIS v8 | SOC 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38404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Presented by: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Megha Sharma  |  Poojan Patel  |  Shilpa Soni  |  Vishnoo Rath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THE CHALLENGE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457200" y="1188720"/>
            <a:ext cx="393156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40080" y="137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Multiple Frameworks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640080" y="182880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Need to follow 4 different security standards at the same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4754880" y="1188720"/>
            <a:ext cx="393156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4937760" y="137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Overlapping Controls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4937760" y="182880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Same security rules repeated in different frameworks with different names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457200" y="3108960"/>
            <a:ext cx="393156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40080" y="3291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Resource Constraints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640080" y="374904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Not enough time, money, or people to handle everything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>
            <a:off x="4754880" y="3108960"/>
            <a:ext cx="393156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4937760" y="32918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Audit Complexity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4937760" y="374904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Collecting separate proof and documents for each standard is difficult and takes too much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10972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CADCFC"/>
                </a:solidFill>
                <a:effectLst/>
                <a:uFillTx/>
                <a:latin typeface="Arial Black"/>
                <a:ea typeface="Arial Black"/>
              </a:rPr>
              <a:t>THE SOLUTION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20116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UNIFIED CONTROL MAPPING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29260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Implement once. Satisfy all.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4 FRAMEWORKS. 1 STRATEGY.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457200" y="1371600"/>
            <a:ext cx="1919880" cy="2925720"/>
          </a:xfrm>
          <a:prstGeom prst="rect">
            <a:avLst/>
          </a:prstGeom>
          <a:solidFill>
            <a:srgbClr val="3B82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57200" y="15544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CSF 2.0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457200" y="23774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Risk-based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457200" y="34747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106 subcategories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2651760" y="1371600"/>
            <a:ext cx="1919880" cy="292572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2651760" y="15544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 27001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2651760" y="23774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Certifiable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2651760" y="34747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93 controls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4846320" y="1371600"/>
            <a:ext cx="1919880" cy="292572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4846320" y="15544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CIS v8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4846320" y="23774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Prescriptive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846320" y="34747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153 safeguards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7040880" y="1371600"/>
            <a:ext cx="1919880" cy="292572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7040880" y="15544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 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7040880" y="23774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Trust-based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7040880" y="34747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 TSC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457200" y="457200"/>
            <a:ext cx="1096920" cy="1096920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457200" y="4572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828800" y="54864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FIREWALLS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5943600" y="822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Perimeter Defense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457200" y="2011680"/>
            <a:ext cx="3931560" cy="914040"/>
          </a:xfrm>
          <a:prstGeom prst="rect">
            <a:avLst/>
          </a:prstGeom>
          <a:solidFill>
            <a:srgbClr val="3B82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64008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64008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PR.AC-5 | PR.DS-5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4754880" y="2011680"/>
            <a:ext cx="3931560" cy="91404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493776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493776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A.8.20 | A.8.22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457200" y="3200400"/>
            <a:ext cx="3931560" cy="91404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64008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64008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12.4 | 13.1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4754880" y="3200400"/>
            <a:ext cx="3931560" cy="91404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493776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493776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CC6.6 | CC6.7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457200" y="457200"/>
            <a:ext cx="1096920" cy="1096920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4572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828800" y="54864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VPNs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943600" y="822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Secure Remote Access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457200" y="2011680"/>
            <a:ext cx="3931560" cy="914040"/>
          </a:xfrm>
          <a:prstGeom prst="rect">
            <a:avLst/>
          </a:prstGeom>
          <a:solidFill>
            <a:srgbClr val="3B82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64008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4008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PR.DS-2 | PR.AC-4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4754880" y="2011680"/>
            <a:ext cx="3931560" cy="91404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493776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493776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A.8.24 | A.5.14 | A.6.7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457200" y="3200400"/>
            <a:ext cx="3931560" cy="91404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64008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64008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12.5 | 4.1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4754880" y="3200400"/>
            <a:ext cx="3931560" cy="91404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493776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493776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CC6.7 | CC6.6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457200" y="457200"/>
            <a:ext cx="1096920" cy="1096920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457200" y="4572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1828800" y="54864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IDS / IPS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5943600" y="822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Threat Detection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457200" y="2011680"/>
            <a:ext cx="3931560" cy="914040"/>
          </a:xfrm>
          <a:prstGeom prst="rect">
            <a:avLst/>
          </a:prstGeom>
          <a:solidFill>
            <a:srgbClr val="3B82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64008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64008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DE.CM-1 | DE.AE-2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4754880" y="2011680"/>
            <a:ext cx="3931560" cy="91404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493776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493776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A.8.16 | A.5.24 | A.5.25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457200" y="3200400"/>
            <a:ext cx="3931560" cy="91404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64008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64008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13.2 | 13.4 | 13.9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4754880" y="3200400"/>
            <a:ext cx="3931560" cy="91404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493776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493776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CC7.2 | CC7.3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457200" y="457200"/>
            <a:ext cx="1096920" cy="1096920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57200" y="4572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828800" y="54864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NETWORK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SEGMENTATION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5943600" y="822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Contain Threats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457200" y="2011680"/>
            <a:ext cx="3931560" cy="914040"/>
          </a:xfrm>
          <a:prstGeom prst="rect">
            <a:avLst/>
          </a:prstGeom>
          <a:solidFill>
            <a:srgbClr val="3B82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64008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64008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PR.AC-5 | PR.PT-4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4754880" y="2011680"/>
            <a:ext cx="3931560" cy="91404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493776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493776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A.8.22 | A.8.20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457200" y="3200400"/>
            <a:ext cx="3931560" cy="91404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64008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64008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12.2 | 13.4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4754880" y="3200400"/>
            <a:ext cx="3931560" cy="91404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493776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493776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CC6.6 | CC6.1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457200" y="457200"/>
            <a:ext cx="1096920" cy="1096920"/>
          </a:xfrm>
          <a:prstGeom prst="ellipse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457200" y="457200"/>
            <a:ext cx="1096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1828800" y="54864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TRAFFIC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MONITORING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5943600" y="822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Continuous Visibility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457200" y="2011680"/>
            <a:ext cx="3931560" cy="914040"/>
          </a:xfrm>
          <a:prstGeom prst="rect">
            <a:avLst/>
          </a:prstGeom>
          <a:solidFill>
            <a:srgbClr val="3B82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64008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NIST CSF 2.0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64008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DE.CM-1 | DE.AE-3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4754880" y="2011680"/>
            <a:ext cx="3931560" cy="914040"/>
          </a:xfrm>
          <a:prstGeom prst="rect">
            <a:avLst/>
          </a:prstGeom>
          <a:solidFill>
            <a:srgbClr val="8B5C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4937760" y="21031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ISO 27001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4937760" y="24688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A.8.15 | A.8.16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457200" y="3200400"/>
            <a:ext cx="3931560" cy="91404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64008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CIS v8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64008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8.2 | 8.5 | 13.6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4754880" y="3200400"/>
            <a:ext cx="3931560" cy="91404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4937760" y="32918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SOC 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4937760" y="3657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CC7.2 | CC7.3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HOW UNIFIED MAPPING WORKS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457200" y="731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Example: Firewall Control Becomes One Unified Row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457200" y="11887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BEFORE: Traditional Approach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457200" y="1600200"/>
            <a:ext cx="3657240" cy="365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548640" y="16459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NIST CSF: PR.AC-5, PR.DS-5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457200" y="2057400"/>
            <a:ext cx="3657240" cy="365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548640" y="21031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ISO 27001: A.8.20, A.8.22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457200" y="2514600"/>
            <a:ext cx="3657240" cy="365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548640" y="25603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CIS v8: 12.4, 13.1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457200" y="2971800"/>
            <a:ext cx="3657240" cy="3654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548640" y="301752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SOC 2: CC6.6, CC6.7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1"/>
          <p:cNvSpPr/>
          <p:nvPr/>
        </p:nvSpPr>
        <p:spPr>
          <a:xfrm>
            <a:off x="457200" y="34747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4 separate implementations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4 separate documentations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4 separate audits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2"/>
          <p:cNvSpPr/>
          <p:nvPr/>
        </p:nvSpPr>
        <p:spPr>
          <a:xfrm>
            <a:off x="4297680" y="2286000"/>
            <a:ext cx="73116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3"/>
          <p:cNvSpPr/>
          <p:nvPr/>
        </p:nvSpPr>
        <p:spPr>
          <a:xfrm>
            <a:off x="5029200" y="11887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AFTER: Unified Mapping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4"/>
          <p:cNvSpPr/>
          <p:nvPr/>
        </p:nvSpPr>
        <p:spPr>
          <a:xfrm>
            <a:off x="5029200" y="1600200"/>
            <a:ext cx="3657240" cy="45684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5120640" y="16459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UC-NET-01: Network Boundary Protection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2" name="Table 0"/>
          <p:cNvGraphicFramePr/>
          <p:nvPr/>
        </p:nvGraphicFramePr>
        <p:xfrm>
          <a:off x="5029200" y="2194560"/>
          <a:ext cx="3657240" cy="12798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</a:tblGrid>
              <a:tr h="255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Framework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Control IDs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NIST CSF 2.0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PR.AC-5, PR.DS-5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ISO 27001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A.8.20, A.8.22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CIS v8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12.4, 13.1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CC6.6, CC6.7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10B981"/>
                      </a:solidFill>
                      <a:prstDash val="solid"/>
                    </a:lnL>
                    <a:lnR w="12240">
                      <a:solidFill>
                        <a:srgbClr val="10B981"/>
                      </a:solidFill>
                      <a:prstDash val="solid"/>
                    </a:lnR>
                    <a:lnT w="12240">
                      <a:solidFill>
                        <a:srgbClr val="10B981"/>
                      </a:solidFill>
                      <a:prstDash val="solid"/>
                    </a:lnT>
                    <a:lnB w="12240">
                      <a:solidFill>
                        <a:srgbClr val="10B98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Text 16"/>
          <p:cNvSpPr/>
          <p:nvPr/>
        </p:nvSpPr>
        <p:spPr>
          <a:xfrm>
            <a:off x="5029200" y="361188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1 unified implementation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1 documentation set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1 evidence collection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Satisfies all 4 frameworks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457200" y="4297680"/>
            <a:ext cx="8229240" cy="639720"/>
          </a:xfrm>
          <a:prstGeom prst="rect">
            <a:avLst/>
          </a:prstGeom>
          <a:solidFill>
            <a:srgbClr val="1E3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640080" y="438912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Insight: Same firewall technology (NGFW) now satisfies all framework requirements simultaneously through one unified control definition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IMPLEMENTATION GUIDANCE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457200" y="7315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Complete Control Life-cycle: From Implementation to Measurement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1005840" y="1188720"/>
            <a:ext cx="731160" cy="73116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1005840" y="11887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⚙️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457200" y="2103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TECHNOLOGY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457200" y="2423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How Implemented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457200" y="2743200"/>
            <a:ext cx="1828440" cy="731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548640" y="28346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Next-Gen Firewall with IPS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2423160" y="1463040"/>
            <a:ext cx="54828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3200400" y="1188720"/>
            <a:ext cx="731160" cy="73116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3200400" y="11887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🔄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2651760" y="2103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PROCESSES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2651760" y="2423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How Maintained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2651760" y="2743200"/>
            <a:ext cx="1828440" cy="731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2743200" y="28346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Weekly rule reviews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Monthly patching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5"/>
          <p:cNvSpPr/>
          <p:nvPr/>
        </p:nvSpPr>
        <p:spPr>
          <a:xfrm>
            <a:off x="4617720" y="1463040"/>
            <a:ext cx="54828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5394960" y="1188720"/>
            <a:ext cx="731160" cy="731160"/>
          </a:xfrm>
          <a:prstGeom prst="ellipse">
            <a:avLst/>
          </a:prstGeom>
          <a:solidFill>
            <a:srgbClr val="14B8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5394960" y="11887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📋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4846320" y="2103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4B8A6"/>
                </a:solidFill>
                <a:effectLst/>
                <a:uFillTx/>
                <a:latin typeface="Calibri"/>
              </a:rPr>
              <a:t>EVIDENCE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4846320" y="2423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How Proven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0"/>
          <p:cNvSpPr/>
          <p:nvPr/>
        </p:nvSpPr>
        <p:spPr>
          <a:xfrm>
            <a:off x="4846320" y="2743200"/>
            <a:ext cx="1828440" cy="731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4937760" y="28346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Config screenshots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Change logs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6812280" y="1463040"/>
            <a:ext cx="54828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3"/>
          <p:cNvSpPr/>
          <p:nvPr/>
        </p:nvSpPr>
        <p:spPr>
          <a:xfrm>
            <a:off x="7589520" y="1188720"/>
            <a:ext cx="731160" cy="7311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7589520" y="11887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5"/>
          <p:cNvSpPr/>
          <p:nvPr/>
        </p:nvSpPr>
        <p:spPr>
          <a:xfrm>
            <a:off x="7040880" y="2103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METRICS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7040880" y="2423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How Measured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7"/>
          <p:cNvSpPr/>
          <p:nvPr/>
        </p:nvSpPr>
        <p:spPr>
          <a:xfrm>
            <a:off x="7040880" y="2743200"/>
            <a:ext cx="1828440" cy="731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8"/>
          <p:cNvSpPr/>
          <p:nvPr/>
        </p:nvSpPr>
        <p:spPr>
          <a:xfrm>
            <a:off x="7132320" y="283464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95% up-time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&lt;5min response time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9"/>
          <p:cNvSpPr/>
          <p:nvPr/>
        </p:nvSpPr>
        <p:spPr>
          <a:xfrm>
            <a:off x="457200" y="36576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Example: Firewall Control (UC-NET-01)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6" name="Table 0"/>
          <p:cNvGraphicFramePr/>
          <p:nvPr/>
        </p:nvGraphicFramePr>
        <p:xfrm>
          <a:off x="457200" y="4023360"/>
          <a:ext cx="8229240" cy="11343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Technology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Processes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Evidence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Metrics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Palo Alto NGFW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with Threat Prevention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Weekly rule audit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Monthly firmware updates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Daily log review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Firewall configs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Change tickets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Security logs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Vulnerability scans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63360" rIns="63360" bIns="633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99.9% uptime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&lt;100ms latency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Zero breaches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• 100% patch compliance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360" marR="63360" marT="63360" marB="63360">
                    <a:lnL w="12240">
                      <a:solidFill>
                        <a:srgbClr val="1E3A8A"/>
                      </a:solidFill>
                      <a:prstDash val="solid"/>
                    </a:lnL>
                    <a:lnR w="12240">
                      <a:solidFill>
                        <a:srgbClr val="1E3A8A"/>
                      </a:solidFill>
                      <a:prstDash val="solid"/>
                    </a:lnR>
                    <a:lnT w="12240">
                      <a:solidFill>
                        <a:srgbClr val="1E3A8A"/>
                      </a:solidFill>
                      <a:prstDash val="solid"/>
                    </a:lnT>
                    <a:lnB w="12240">
                      <a:solidFill>
                        <a:srgbClr val="1E3A8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2743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AUTOMATION TOOLS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57200" y="685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GRC Tools for Automated Control Mapping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9" name="Table 0"/>
          <p:cNvGraphicFramePr/>
          <p:nvPr/>
        </p:nvGraphicFramePr>
        <p:xfrm>
          <a:off x="457200" y="1097280"/>
          <a:ext cx="8229240" cy="310896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103120"/>
                <a:gridCol w="274320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Tool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Control Mapping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Framework Support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Key Strength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Vanta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Automated cross-framework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ISO 27001, NIST, CIS,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Continuous monitoring + evidence reuse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Paracomply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Visual crosswalk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ISO, NIST,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Unified control demonstration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Complyance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Pre-built control templates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ISO 27001, NIST,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Strong control life-cycle management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CyberCyte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Multi-framework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ISO, NIST, CIS,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Enterprise dashboards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United GRC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Unified control repository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ISO, NIST,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Shared evidence &amp; reporting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Risk Cognizance</a:t>
                      </a:r>
                      <a:endParaRPr lang="en-US" sz="10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AI-assisted mapping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ISO, NIST, CIS, SOC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</a:rPr>
                        <a:t>Gap analysis &amp; risk-based approach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THE FUTURE OF CONTROL MAPPING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731520" y="11887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1280160" y="1188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AI-Powered Mapping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1280160" y="15087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Machine learning algorithms automatically identify control overlaps and suggest optimal mappings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731520" y="20116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1280160" y="2011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Real-Time Compliance Tracking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1280160" y="23317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Continuous monitoring with automated evidence collection across all frameworks simultaneously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731520" y="2834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1280160" y="28346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Dynamic Framework Updates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1280160" y="3154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Automatic adjustment to framework changes with instant remapping of affected controls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0"/>
          <p:cNvSpPr/>
          <p:nvPr/>
        </p:nvSpPr>
        <p:spPr>
          <a:xfrm>
            <a:off x="731520" y="36576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1280160" y="3657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Predictive Gap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2"/>
          <p:cNvSpPr/>
          <p:nvPr/>
        </p:nvSpPr>
        <p:spPr>
          <a:xfrm>
            <a:off x="1280160" y="39776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Calibri"/>
              </a:rPr>
              <a:t>AI predicts compliance gaps before audits and recommends proactive remediation steps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3657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E3A8A"/>
                </a:solidFill>
                <a:effectLst/>
                <a:uFillTx/>
                <a:latin typeface="Arial Black"/>
                <a:ea typeface="Arial Black"/>
              </a:rPr>
              <a:t>VALUABLE RESOURCES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640080" y="10972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NIST Cybersecurity Framework (CSF) 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>
            <a:hlinkClick r:id="rId1"/>
          </p:cNvPr>
          <p:cNvSpPr/>
          <p:nvPr/>
        </p:nvSpPr>
        <p:spPr>
          <a:xfrm>
            <a:off x="640080" y="132588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sng" strike="noStrike">
                <a:solidFill>
                  <a:srgbClr val="3B82F6"/>
                </a:solidFill>
                <a:effectLst/>
                <a:uFillTx/>
                <a:latin typeface="Calibri"/>
                <a:hlinkClick r:id="rId2"/>
              </a:rPr>
              <a:t>https://www.nist.gov/cyberframework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640080" y="149040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Official NIST framework documentation and resources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640080" y="169164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ISO/IEC 27001:2022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>
            <a:hlinkClick r:id="rId3"/>
          </p:cNvPr>
          <p:cNvSpPr/>
          <p:nvPr/>
        </p:nvSpPr>
        <p:spPr>
          <a:xfrm>
            <a:off x="640080" y="192024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sng" strike="noStrike">
                <a:solidFill>
                  <a:srgbClr val="3B82F6"/>
                </a:solidFill>
                <a:effectLst/>
                <a:uFillTx/>
                <a:latin typeface="Calibri"/>
                <a:hlinkClick r:id="rId4"/>
              </a:rPr>
              <a:t>https://www.iso.org/standard/27001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640080" y="208476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Information security management systems standard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640080" y="228600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CIS Controls v8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>
            <a:hlinkClick r:id="rId5"/>
          </p:cNvPr>
          <p:cNvSpPr/>
          <p:nvPr/>
        </p:nvSpPr>
        <p:spPr>
          <a:xfrm>
            <a:off x="640080" y="251460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sng" strike="noStrike">
                <a:solidFill>
                  <a:srgbClr val="3B82F6"/>
                </a:solidFill>
                <a:effectLst/>
                <a:uFillTx/>
                <a:latin typeface="Calibri"/>
                <a:hlinkClick r:id="rId6"/>
              </a:rPr>
              <a:t>https://www.cisecurity.org/controls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640080" y="267912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Center for Internet Security safeguards and benchmarks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640080" y="288036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SOC 2 Trust Services Criteria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>
            <a:hlinkClick r:id="rId7"/>
          </p:cNvPr>
          <p:cNvSpPr/>
          <p:nvPr/>
        </p:nvSpPr>
        <p:spPr>
          <a:xfrm>
            <a:off x="640080" y="310896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sng" strike="noStrike">
                <a:solidFill>
                  <a:srgbClr val="3B82F6"/>
                </a:solidFill>
                <a:effectLst/>
                <a:uFillTx/>
                <a:latin typeface="Calibri"/>
                <a:hlinkClick r:id="rId8"/>
              </a:rPr>
              <a:t>https://www.aicpa.org/soc4so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640080" y="327348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AICPA SOC 2 framework and compliance guidance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640080" y="34747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Security Control Mapping Guide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>
            <a:hlinkClick r:id="rId9"/>
          </p:cNvPr>
          <p:cNvSpPr/>
          <p:nvPr/>
        </p:nvSpPr>
        <p:spPr>
          <a:xfrm>
            <a:off x="640080" y="370332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sng" strike="noStrike">
                <a:solidFill>
                  <a:srgbClr val="3B82F6"/>
                </a:solidFill>
                <a:effectLst/>
                <a:uFillTx/>
                <a:latin typeface="Calibri"/>
                <a:hlinkClick r:id="rId10"/>
              </a:rPr>
              <a:t>https://csrc.nist.gov/projects/olir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640080" y="386784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NIST OLIR - Online Informative References for framework mapping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640080" y="406908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3A8A"/>
                </a:solidFill>
                <a:effectLst/>
                <a:uFillTx/>
                <a:latin typeface="Calibri"/>
              </a:rPr>
              <a:t>Unified Compliance Framework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7">
            <a:hlinkClick r:id="rId11"/>
          </p:cNvPr>
          <p:cNvSpPr/>
          <p:nvPr/>
        </p:nvSpPr>
        <p:spPr>
          <a:xfrm>
            <a:off x="640080" y="429768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sng" strike="noStrike">
                <a:solidFill>
                  <a:srgbClr val="3B82F6"/>
                </a:solidFill>
                <a:effectLst/>
                <a:uFillTx/>
                <a:latin typeface="Calibri"/>
                <a:hlinkClick r:id="rId12"/>
              </a:rPr>
              <a:t>https://complianceforge.com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640080" y="4462200"/>
            <a:ext cx="8046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Cross-framework mapping and compliance resources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/>
          <p:nvPr/>
        </p:nvSpPr>
        <p:spPr>
          <a:xfrm>
            <a:off x="457200" y="1828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ANY QUESTIONS?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457200" y="2743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Thank you for your attention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2026-02-16T05:47:42Z</dcterms:created>
  <dc:creator>Megha Sharma, Poojan Patel, Shilpa Soni, Vishnoo Rath</dc:creator>
  <dc:description/>
  <dc:language>en-US</dc:language>
  <cp:lastModifiedBy/>
  <dcterms:modified xsi:type="dcterms:W3CDTF">2026-02-16T11:30:41Z</dcterms:modified>
  <cp:revision>2</cp:revision>
  <dc:subject>PptxGenJS Presentation</dc:subject>
  <dc:title>Security Control Mapping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